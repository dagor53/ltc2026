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63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-754" y="-77"/>
      </p:cViewPr>
      <p:guideLst>
        <p:guide orient="horz" pos="2160"/>
        <p:guide pos="597"/>
        <p:guide pos="3591"/>
        <p:guide pos="5496"/>
        <p:guide pos="4112"/>
        <p:guide pos="3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71703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767083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74723726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59281424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64530267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855331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BF816F-A7DC-67EE-CAF2-6FF4D56A44AA}" type="slidenum">
              <a:rPr/>
              <a:pPr>
                <a:defRPr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D298F-1A13-08B5-7052-F7B69420403D}" type="slidenum">
              <a:rPr/>
              <a:pPr>
                <a:defRPr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81326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84894448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5150705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pPr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95066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30720712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6406773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pPr>
                <a:defRPr/>
              </a:pPr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C6D75D-20CD-3E9D-58C0-31D69001C109}" type="slidenum">
              <a:rPr/>
              <a:pPr>
                <a:defRPr/>
              </a:pPr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 cstate="print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142383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352373177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50462722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434146096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308030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2111531521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97683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405237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955219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140509988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818639790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472918057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202881138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984781913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61948110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98159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16722792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069225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197627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5748356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4984664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4409768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86621830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219531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34437465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3837202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98092592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7590629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07395848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9850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15355783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10958782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7645364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53292269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755448268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13303763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76642283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28447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122614894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343224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538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8317594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37257663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05891318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183031623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897743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29468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39199585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830665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835919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3337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116856008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7097181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05997649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761155838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17029792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786338253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2907318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553562594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466388081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546912026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08380736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827877164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423401502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95619040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6467790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67863237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934720626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869275628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1583473071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2068177788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78812581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6319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136831222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2453841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2622676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043364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2041884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47822174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04679140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87005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53786907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8041685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2199208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1169008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66876108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93903437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72021658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35173794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039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111103728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6778929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385708971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46837513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47847200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347194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82027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8525451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9990583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6182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25789871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5267950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857681366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10064708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5570585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5677463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5658098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8030952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1144806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8057532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3484620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60733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31939111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6469600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93937767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3790158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87660540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6713030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27543390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37081605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77922492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1530699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604287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85255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9808980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4248275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1650429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16719993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4981929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43436797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81356639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11617480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97650546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9487923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43963596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42562672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92692430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1412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156621893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5294654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379049633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4329209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010882246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641335146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216988710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118845480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445929720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5049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  <p:txBody>
          <a:bodyPr/>
          <a:lstStyle/>
          <a:p>
            <a:endParaRPr lang="ru-RU"/>
          </a:p>
        </p:txBody>
      </p:sp>
      <p:sp>
        <p:nvSpPr>
          <p:cNvPr id="205665832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13464289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93329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1316403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0844607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9717184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45101056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7033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93472007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284680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845033102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56533739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1863048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00597023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  <p:txBody>
          <a:bodyPr/>
          <a:lstStyle/>
          <a:p>
            <a:endParaRPr lang="ru-RU"/>
          </a:p>
        </p:txBody>
      </p:sp>
      <p:sp>
        <p:nvSpPr>
          <p:cNvPr id="428314274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30294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915592203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05630127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80652107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4241586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78642829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3503070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2517972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742660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2027390162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3224087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387889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283806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5003310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20854346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1977996612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2797971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73265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404015737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702686815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301240415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22521276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9678545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748671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766078283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78788629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6810543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06093386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9092733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 cstate="print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57244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27781445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448075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pPr>
                <a:defRPr/>
              </a:pPr>
              <a:t>29.09.2026</a:t>
            </a:fld>
            <a:endParaRPr lang="ru-RU"/>
          </a:p>
        </p:txBody>
      </p:sp>
      <p:sp>
        <p:nvSpPr>
          <p:cNvPr id="20505773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303970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708529" name="Заголовок 2"/>
          <p:cNvSpPr>
            <a:spLocks noGrp="1"/>
          </p:cNvSpPr>
          <p:nvPr>
            <p:ph type="ctrTitle"/>
          </p:nvPr>
        </p:nvSpPr>
        <p:spPr bwMode="auto">
          <a:xfrm>
            <a:off x="0" y="295275"/>
            <a:ext cx="663892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400" smtClean="0"/>
              <a:t>Команда «СИГНАЛ»</a:t>
            </a:r>
            <a:endParaRPr lang="ru-RU" sz="4400" dirty="0"/>
          </a:p>
        </p:txBody>
      </p:sp>
      <p:sp>
        <p:nvSpPr>
          <p:cNvPr id="768776662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>
            <a:normAutofit/>
          </a:bodyPr>
          <a:lstStyle/>
          <a:p>
            <a:pPr indent="268288">
              <a:defRPr/>
            </a:pPr>
            <a:r>
              <a:rPr lang="ru-RU" smtClean="0"/>
              <a:t>Задача №2 «Получение </a:t>
            </a:r>
            <a:r>
              <a:rPr lang="ru-RU" dirty="0"/>
              <a:t>доступа к прошивке современной компьютерной</a:t>
            </a:r>
          </a:p>
          <a:p>
            <a:pPr indent="268288">
              <a:defRPr/>
            </a:pPr>
            <a:r>
              <a:rPr lang="ru-RU" dirty="0"/>
              <a:t>платы с использованием различных </a:t>
            </a:r>
            <a:r>
              <a:rPr lang="ru-RU"/>
              <a:t>техник </a:t>
            </a:r>
            <a:r>
              <a:rPr lang="ru-RU" smtClean="0"/>
              <a:t>реверс-инжиниринга».</a:t>
            </a:r>
            <a:endParaRPr lang="ru-RU" dirty="0"/>
          </a:p>
        </p:txBody>
      </p:sp>
      <p:sp>
        <p:nvSpPr>
          <p:cNvPr id="881582358" name="Скругленный прямоугольник 1"/>
          <p:cNvSpPr/>
          <p:nvPr/>
        </p:nvSpPr>
        <p:spPr bwMode="auto">
          <a:xfrm>
            <a:off x="0" y="0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 cstate="print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408462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CC7637DD-66FE-22CF-FF3A-5E2E6D5124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9314" b="19314"/>
          <a:stretch>
            <a:fillRect/>
          </a:stretch>
        </p:blipFill>
        <p:spPr bwMode="auto">
          <a:xfrm>
            <a:off x="0" y="334963"/>
            <a:ext cx="6456363" cy="2971800"/>
          </a:xfrm>
          <a:prstGeom prst="rect">
            <a:avLst/>
          </a:prstGeom>
        </p:spPr>
      </p:pic>
      <p:sp>
        <p:nvSpPr>
          <p:cNvPr id="1674267058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  <a:endParaRPr dirty="0"/>
          </a:p>
        </p:txBody>
      </p:sp>
      <p:sp>
        <p:nvSpPr>
          <p:cNvPr id="1194460269" name="Текст 8"/>
          <p:cNvSpPr txBox="1"/>
          <p:nvPr/>
        </p:nvSpPr>
        <p:spPr bwMode="auto">
          <a:xfrm>
            <a:off x="6836606" y="4876070"/>
            <a:ext cx="4945565" cy="175965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mtClean="0">
                <a:solidFill>
                  <a:schemeClr val="tx1"/>
                </a:solidFill>
              </a:rPr>
              <a:t>Уникальность решения заключается в разносторонности подходов: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ru-RU">
                <a:solidFill>
                  <a:schemeClr val="tx1"/>
                </a:solidFill>
              </a:rPr>
              <a:t>) </a:t>
            </a:r>
            <a:r>
              <a:rPr lang="ru-RU" smtClean="0">
                <a:solidFill>
                  <a:schemeClr val="tx1"/>
                </a:solidFill>
              </a:rPr>
              <a:t>и</a:t>
            </a:r>
            <a:r>
              <a:rPr lang="ru-RU" smtClean="0">
                <a:solidFill>
                  <a:schemeClr val="tx1"/>
                </a:solidFill>
              </a:rPr>
              <a:t>спользование веб-инструментов для скачивания прошивки;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2</a:t>
            </a:r>
            <a:r>
              <a:rPr lang="ru-RU" smtClean="0">
                <a:solidFill>
                  <a:schemeClr val="tx1"/>
                </a:solidFill>
              </a:rPr>
              <a:t>) применение </a:t>
            </a:r>
            <a:r>
              <a:rPr lang="en-US" dirty="0" err="1">
                <a:solidFill>
                  <a:schemeClr val="tx1"/>
                </a:solidFill>
              </a:rPr>
              <a:t>Ghidra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для расшифровки </a:t>
            </a:r>
            <a:r>
              <a:rPr lang="en-US">
                <a:solidFill>
                  <a:schemeClr val="tx1"/>
                </a:solidFill>
              </a:rPr>
              <a:t>bin </a:t>
            </a:r>
            <a:r>
              <a:rPr lang="ru-RU" smtClean="0">
                <a:solidFill>
                  <a:schemeClr val="tx1"/>
                </a:solidFill>
              </a:rPr>
              <a:t>файла;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smtClean="0">
                <a:solidFill>
                  <a:schemeClr val="tx1"/>
                </a:solidFill>
              </a:rPr>
              <a:t>3) исследование формы и задержек сигналов на выводах платы.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114639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Гордеева Дарья Александровна</a:t>
            </a:r>
            <a:r>
              <a:rPr lang="ru-RU">
                <a:solidFill>
                  <a:schemeClr val="tx1"/>
                </a:solidFill>
              </a:rPr>
              <a:t>, </a:t>
            </a:r>
            <a:r>
              <a:rPr lang="ru-RU" smtClean="0">
                <a:solidFill>
                  <a:schemeClr val="tx1"/>
                </a:solidFill>
              </a:rPr>
              <a:t>инженер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en-US" dirty="0">
                <a:solidFill>
                  <a:schemeClr val="tx1"/>
                </a:solidFill>
              </a:rPr>
              <a:t>3</a:t>
            </a:r>
            <a:r>
              <a:rPr lang="ru-RU" dirty="0">
                <a:solidFill>
                  <a:schemeClr val="tx1"/>
                </a:solidFill>
              </a:rPr>
              <a:t> человека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solidFill>
                  <a:schemeClr val="tx1"/>
                </a:solidFill>
              </a:rPr>
              <a:t>Решили попробовать свои силы в хакатоне. Давно знакомы и уже умеем работать вместе, поэтому объединились в команду.</a:t>
            </a: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Tx/>
              <a:buChar char="-"/>
              <a:defRPr/>
            </a:pPr>
            <a:r>
              <a:rPr lang="ru-RU" dirty="0">
                <a:solidFill>
                  <a:schemeClr val="tx1"/>
                </a:solidFill>
              </a:rPr>
              <a:t>2 участника — выпускники МАИ, 1 участник — студент МТУСИ</a:t>
            </a:r>
            <a:endParaRPr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219287099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2041945899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2247897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КОМАНДА</a:t>
            </a:r>
            <a:br>
              <a:rPr lang="ru-RU" sz="2400" dirty="0">
                <a:solidFill>
                  <a:schemeClr val="accent5"/>
                </a:solidFill>
                <a:latin typeface="Montserrat"/>
              </a:rPr>
            </a:br>
            <a:r>
              <a:rPr lang="ru-RU" sz="2400" dirty="0">
                <a:solidFill>
                  <a:schemeClr val="accent5"/>
                </a:solidFill>
                <a:latin typeface="Montserrat"/>
              </a:rPr>
              <a:t>«СИГНАЛ»</a:t>
            </a:r>
          </a:p>
        </p:txBody>
      </p:sp>
      <p:cxnSp>
        <p:nvCxnSpPr>
          <p:cNvPr id="1534657034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3577191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9700042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59050093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  <a:endParaRPr dirty="0"/>
          </a:p>
        </p:txBody>
      </p:sp>
      <p:sp>
        <p:nvSpPr>
          <p:cNvPr id="1961478639" name="Текст 8"/>
          <p:cNvSpPr txBox="1"/>
          <p:nvPr/>
        </p:nvSpPr>
        <p:spPr bwMode="auto">
          <a:xfrm>
            <a:off x="6808027" y="2619902"/>
            <a:ext cx="4945565" cy="182827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500" dirty="0">
                <a:solidFill>
                  <a:schemeClr val="tx1"/>
                </a:solidFill>
              </a:rPr>
              <a:t>Получение доступа к прошивке защищённой платы с использованием аппаратных и программных методов реверс-инжиниринга.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sz="1500" smtClean="0">
                <a:solidFill>
                  <a:schemeClr val="tx1"/>
                </a:solidFill>
              </a:rPr>
              <a:t>Был исследован</a:t>
            </a:r>
            <a:r>
              <a:rPr lang="ru-RU" sz="1500" smtClean="0">
                <a:solidFill>
                  <a:schemeClr val="tx1"/>
                </a:solidFill>
              </a:rPr>
              <a:t> </a:t>
            </a:r>
            <a:r>
              <a:rPr lang="ru-RU" sz="1500" dirty="0">
                <a:solidFill>
                  <a:schemeClr val="tx1"/>
                </a:solidFill>
              </a:rPr>
              <a:t>интерфейс платы</a:t>
            </a:r>
            <a:r>
              <a:rPr lang="ru-RU" sz="1500">
                <a:solidFill>
                  <a:schemeClr val="tx1"/>
                </a:solidFill>
              </a:rPr>
              <a:t>, </a:t>
            </a:r>
            <a:r>
              <a:rPr lang="ru-RU" sz="1500" smtClean="0">
                <a:solidFill>
                  <a:schemeClr val="tx1"/>
                </a:solidFill>
              </a:rPr>
              <a:t>извлечена и проанализирована прошивка с помощью ПО </a:t>
            </a:r>
            <a:r>
              <a:rPr lang="en-US" sz="1500" smtClean="0">
                <a:solidFill>
                  <a:schemeClr val="tx1"/>
                </a:solidFill>
              </a:rPr>
              <a:t>Ghidra</a:t>
            </a:r>
            <a:r>
              <a:rPr lang="ru-RU" sz="1500" smtClean="0">
                <a:solidFill>
                  <a:schemeClr val="tx1"/>
                </a:solidFill>
              </a:rPr>
              <a:t>, получен пинкод от платы, а также исследованы возможности </a:t>
            </a:r>
            <a:r>
              <a:rPr lang="en-US" sz="1500" smtClean="0">
                <a:solidFill>
                  <a:schemeClr val="tx1"/>
                </a:solidFill>
              </a:rPr>
              <a:t>Arduino </a:t>
            </a:r>
            <a:r>
              <a:rPr lang="ru-RU" sz="1500" smtClean="0">
                <a:solidFill>
                  <a:schemeClr val="tx1"/>
                </a:solidFill>
              </a:rPr>
              <a:t>применительно к аппаратному хакингу. </a:t>
            </a:r>
            <a:endParaRPr lang="en-US" sz="15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endParaRPr dirty="0"/>
          </a:p>
        </p:txBody>
      </p:sp>
      <p:sp>
        <p:nvSpPr>
          <p:cNvPr id="1949543166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pPr algn="ctr">
                <a:defRPr/>
              </a:p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 cstate="print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153525" name="Скругленный прямоугольник 55"/>
          <p:cNvSpPr/>
          <p:nvPr/>
        </p:nvSpPr>
        <p:spPr bwMode="auto">
          <a:xfrm>
            <a:off x="4454795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83073143" name="Текст 8"/>
          <p:cNvSpPr txBox="1"/>
          <p:nvPr/>
        </p:nvSpPr>
        <p:spPr bwMode="auto">
          <a:xfrm>
            <a:off x="4627079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300" dirty="0">
                <a:solidFill>
                  <a:schemeClr val="tx1"/>
                </a:solidFill>
              </a:rPr>
              <a:t>Роль в команде</a:t>
            </a:r>
            <a:r>
              <a:rPr lang="en-US" sz="1300" dirty="0">
                <a:solidFill>
                  <a:schemeClr val="tx1"/>
                </a:solidFill>
              </a:rPr>
              <a:t>:</a:t>
            </a:r>
            <a:r>
              <a:rPr lang="en-US" sz="1300" dirty="0"/>
              <a:t> </a:t>
            </a:r>
            <a:r>
              <a:rPr lang="ru-RU" sz="1300" dirty="0">
                <a:solidFill>
                  <a:schemeClr val="tx1"/>
                </a:solidFill>
              </a:rPr>
              <a:t>Инженер конструктор</a:t>
            </a:r>
            <a:endParaRPr sz="1300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300" dirty="0">
                <a:solidFill>
                  <a:schemeClr val="tx1"/>
                </a:solidFill>
              </a:rPr>
              <a:t>Ник в мессенджере</a:t>
            </a:r>
            <a:r>
              <a:rPr lang="en-US" sz="1300" dirty="0">
                <a:solidFill>
                  <a:schemeClr val="tx1"/>
                </a:solidFill>
              </a:rPr>
              <a:t>: @DaGor_53</a:t>
            </a:r>
            <a:endParaRPr sz="1300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300" dirty="0">
                <a:solidFill>
                  <a:schemeClr val="tx1"/>
                </a:solidFill>
              </a:rPr>
              <a:t>Номер телефона</a:t>
            </a:r>
            <a:r>
              <a:rPr lang="en-US" sz="1300" dirty="0">
                <a:solidFill>
                  <a:schemeClr val="tx1"/>
                </a:solidFill>
              </a:rPr>
              <a:t>: </a:t>
            </a:r>
            <a:r>
              <a:rPr lang="ru-RU" sz="1300" dirty="0">
                <a:solidFill>
                  <a:schemeClr val="tx1"/>
                </a:solidFill>
              </a:rPr>
              <a:t>+7(916)439-95-53</a:t>
            </a: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300" dirty="0">
                <a:solidFill>
                  <a:schemeClr val="tx1"/>
                </a:solidFill>
              </a:rPr>
              <a:t>Место работы/учебы</a:t>
            </a:r>
            <a:r>
              <a:rPr lang="en-US" sz="1300">
                <a:solidFill>
                  <a:schemeClr val="tx1"/>
                </a:solidFill>
              </a:rPr>
              <a:t>: </a:t>
            </a:r>
            <a:r>
              <a:rPr lang="ru-RU" sz="1300" smtClean="0">
                <a:solidFill>
                  <a:schemeClr val="tx1"/>
                </a:solidFill>
              </a:rPr>
              <a:t>ИОФ РАН</a:t>
            </a:r>
            <a:endParaRPr sz="1300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9231622" name="Текст 8"/>
          <p:cNvSpPr txBox="1"/>
          <p:nvPr/>
        </p:nvSpPr>
        <p:spPr bwMode="auto">
          <a:xfrm>
            <a:off x="4627078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Дарья Гордеева</a:t>
            </a:r>
            <a:endParaRPr lang="ru-RU" sz="1600" dirty="0"/>
          </a:p>
        </p:txBody>
      </p:sp>
      <p:sp>
        <p:nvSpPr>
          <p:cNvPr id="886270694" name="Скругленный прямоугольник 58"/>
          <p:cNvSpPr/>
          <p:nvPr/>
        </p:nvSpPr>
        <p:spPr bwMode="auto">
          <a:xfrm>
            <a:off x="705644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1233780" name="Текст 8"/>
          <p:cNvSpPr txBox="1"/>
          <p:nvPr/>
        </p:nvSpPr>
        <p:spPr bwMode="auto">
          <a:xfrm>
            <a:off x="7228730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  <a:r>
              <a:rPr lang="en-US" sz="1200" dirty="0">
                <a:solidFill>
                  <a:schemeClr val="tx1"/>
                </a:solidFill>
              </a:rPr>
              <a:t>:</a:t>
            </a:r>
            <a:r>
              <a:rPr lang="en-US" sz="1200" dirty="0"/>
              <a:t> </a:t>
            </a:r>
            <a:r>
              <a:rPr lang="ru-RU" sz="1200" dirty="0">
                <a:solidFill>
                  <a:schemeClr val="tx1"/>
                </a:solidFill>
              </a:rPr>
              <a:t>Инженер связи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  <a:r>
              <a:rPr lang="en-US" sz="1200" dirty="0">
                <a:solidFill>
                  <a:schemeClr val="tx1"/>
                </a:solidFill>
              </a:rPr>
              <a:t>: @Nikky125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ru-RU" sz="1200" dirty="0">
                <a:solidFill>
                  <a:schemeClr val="tx1"/>
                </a:solidFill>
              </a:rPr>
              <a:t>+7(965)352-06-28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ru-RU" sz="1200" dirty="0">
                <a:solidFill>
                  <a:schemeClr val="tx1"/>
                </a:solidFill>
              </a:rPr>
              <a:t>Студент МТУСИ</a:t>
            </a:r>
          </a:p>
        </p:txBody>
      </p:sp>
      <p:sp>
        <p:nvSpPr>
          <p:cNvPr id="1895135758" name="Текст 8"/>
          <p:cNvSpPr txBox="1"/>
          <p:nvPr/>
        </p:nvSpPr>
        <p:spPr bwMode="auto">
          <a:xfrm>
            <a:off x="722872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Анастасия Чесалина</a:t>
            </a:r>
            <a:endParaRPr lang="ru-RU" sz="1600" dirty="0"/>
          </a:p>
        </p:txBody>
      </p:sp>
      <p:sp>
        <p:nvSpPr>
          <p:cNvPr id="398031202" name="Скругленный прямоугольник 16"/>
          <p:cNvSpPr/>
          <p:nvPr/>
        </p:nvSpPr>
        <p:spPr bwMode="auto">
          <a:xfrm>
            <a:off x="1929483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729506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484644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xmlns="" id="{6C5F008C-B256-04E3-7938-E1F5AA7D4AA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387" b="7387"/>
          <a:stretch>
            <a:fillRect/>
          </a:stretch>
        </p:blipFill>
        <p:spPr bwMode="auto">
          <a:xfrm>
            <a:off x="2165350" y="1816100"/>
            <a:ext cx="1722438" cy="155257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648A44EE-CC2B-DD53-D347-ED535EA2891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4359" b="4359"/>
          <a:stretch>
            <a:fillRect/>
          </a:stretch>
        </p:blipFill>
        <p:spPr bwMode="auto">
          <a:xfrm>
            <a:off x="4689475" y="1827213"/>
            <a:ext cx="1722438" cy="1541462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xmlns="" id="{9DC31834-E486-5405-5B3C-F57BA578CA6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8248" b="8248"/>
          <a:stretch>
            <a:fillRect/>
          </a:stretch>
        </p:blipFill>
        <p:spPr bwMode="auto">
          <a:xfrm>
            <a:off x="7291388" y="1809750"/>
            <a:ext cx="1722437" cy="1558925"/>
          </a:xfrm>
          <a:prstGeom prst="rect">
            <a:avLst/>
          </a:prstGeom>
        </p:spPr>
      </p:pic>
      <p:sp>
        <p:nvSpPr>
          <p:cNvPr id="1298890145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«Сигнал»</a:t>
            </a:r>
          </a:p>
        </p:txBody>
      </p:sp>
      <p:sp>
        <p:nvSpPr>
          <p:cNvPr id="1420384943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2101767" y="4250028"/>
            <a:ext cx="1894354" cy="162461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  <a:r>
              <a:rPr lang="en-US" sz="1200" dirty="0">
                <a:solidFill>
                  <a:schemeClr val="tx1"/>
                </a:solidFill>
              </a:rPr>
              <a:t>:</a:t>
            </a:r>
            <a:r>
              <a:rPr lang="en-US" sz="1200" dirty="0"/>
              <a:t> 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  <a:r>
              <a:rPr lang="en-US" sz="1200" dirty="0">
                <a:solidFill>
                  <a:schemeClr val="tx1"/>
                </a:solidFill>
              </a:rPr>
              <a:t>: @lysennok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  <a:r>
              <a:rPr lang="en-US" sz="1200" dirty="0">
                <a:solidFill>
                  <a:schemeClr val="tx1"/>
                </a:solidFill>
              </a:rPr>
              <a:t>: +</a:t>
            </a:r>
            <a:r>
              <a:rPr lang="ru-RU" sz="1200" dirty="0">
                <a:solidFill>
                  <a:schemeClr val="tx1"/>
                </a:solidFill>
              </a:rPr>
              <a:t>7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lang="ru-RU" sz="1200" dirty="0">
                <a:solidFill>
                  <a:schemeClr val="tx1"/>
                </a:solidFill>
              </a:rPr>
              <a:t>964</a:t>
            </a:r>
            <a:r>
              <a:rPr lang="en-US" sz="1200" dirty="0">
                <a:solidFill>
                  <a:schemeClr val="tx1"/>
                </a:solidFill>
              </a:rPr>
              <a:t>)</a:t>
            </a:r>
            <a:r>
              <a:rPr lang="ru-RU" sz="1200" dirty="0">
                <a:solidFill>
                  <a:schemeClr val="tx1"/>
                </a:solidFill>
              </a:rPr>
              <a:t>775</a:t>
            </a:r>
            <a:r>
              <a:rPr lang="en-US" sz="1200" dirty="0">
                <a:solidFill>
                  <a:schemeClr val="tx1"/>
                </a:solidFill>
              </a:rPr>
              <a:t>-</a:t>
            </a:r>
            <a:r>
              <a:rPr lang="ru-RU" sz="1200" dirty="0">
                <a:solidFill>
                  <a:schemeClr val="tx1"/>
                </a:solidFill>
              </a:rPr>
              <a:t>61-08</a:t>
            </a:r>
            <a:endParaRPr sz="1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ru-RU" sz="1200" dirty="0">
                <a:solidFill>
                  <a:schemeClr val="tx1"/>
                </a:solidFill>
              </a:rPr>
              <a:t>Выпускник МАИ</a:t>
            </a:r>
            <a:endParaRPr dirty="0"/>
          </a:p>
        </p:txBody>
      </p:sp>
      <p:sp>
        <p:nvSpPr>
          <p:cNvPr id="460982224" name="Текст 8"/>
          <p:cNvSpPr txBox="1"/>
          <p:nvPr/>
        </p:nvSpPr>
        <p:spPr bwMode="auto">
          <a:xfrm>
            <a:off x="2101766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Елизавета Завьялова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 cstate="print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875589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36844163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pPr>
                <a:defRPr/>
              </a:p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375503761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Команда «Сигнал»</a:t>
            </a:r>
            <a:endParaRPr lang="ru-RU" dirty="0">
              <a:latin typeface="Montserrat"/>
            </a:endParaRPr>
          </a:p>
        </p:txBody>
      </p:sp>
      <p:sp>
        <p:nvSpPr>
          <p:cNvPr id="2473644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635826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 нашей команде есть специалисты как в программировании, так и в инженерии, поэтому мы можем подходить к задачам с разных сторон. Мы давно знакомы и решили вместе попробовать свои силы в хакатоне. </a:t>
            </a:r>
            <a:endParaRPr dirty="0"/>
          </a:p>
        </p:txBody>
      </p:sp>
      <p:sp>
        <p:nvSpPr>
          <p:cNvPr id="374626971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  <a:endParaRPr dirty="0"/>
          </a:p>
        </p:txBody>
      </p:sp>
      <p:sp>
        <p:nvSpPr>
          <p:cNvPr id="780490151" name="Текст 8"/>
          <p:cNvSpPr txBox="1"/>
          <p:nvPr/>
        </p:nvSpPr>
        <p:spPr bwMode="auto">
          <a:xfrm>
            <a:off x="533607" y="5139255"/>
            <a:ext cx="9084526" cy="132927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Главной сложностью стало отсутствие готового решения и необходимость самостоятельно искать точки доступа к устройству. 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Самым интересным для нас оказался сам процесс поиска. В реверс-инжиниринге далеко не каждая гипотеза приводит к результату, поэтому приходится спокойно возвращаться на несколько шагов назад, анализировать полученные данные и пробовать другой подход.</a:t>
            </a:r>
          </a:p>
          <a:p>
            <a:pPr marL="0" indent="0">
              <a:lnSpc>
                <a:spcPct val="100000"/>
              </a:lnSpc>
              <a:buNone/>
              <a:defRPr/>
            </a:pPr>
            <a:endParaRPr dirty="0"/>
          </a:p>
        </p:txBody>
      </p:sp>
      <p:sp>
        <p:nvSpPr>
          <p:cNvPr id="953345821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  <a:endParaRPr dirty="0"/>
          </a:p>
        </p:txBody>
      </p:sp>
      <p:sp>
        <p:nvSpPr>
          <p:cNvPr id="1718795183" name="Текст 8"/>
          <p:cNvSpPr txBox="1"/>
          <p:nvPr/>
        </p:nvSpPr>
        <p:spPr bwMode="auto">
          <a:xfrm>
            <a:off x="533607" y="3429001"/>
            <a:ext cx="6569926" cy="88053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Нас заинтересовало сочетание программирования, электроники и реверс-инжиниринга. Хотелось попробовать разобраться в реальном устройстве и найти собственный путь к прошивке.</a:t>
            </a:r>
            <a:endParaRPr dirty="0"/>
          </a:p>
        </p:txBody>
      </p:sp>
      <p:sp>
        <p:nvSpPr>
          <p:cNvPr id="1884600547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  <a:endParaRPr dirty="0"/>
          </a:p>
        </p:txBody>
      </p:sp>
      <p:cxnSp>
        <p:nvCxnSpPr>
          <p:cNvPr id="1092654566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1401733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67805358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402602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778577044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678095108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 cstate="print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591100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33095240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68800257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3780243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01457561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smtClean="0">
                <a:solidFill>
                  <a:schemeClr val="tx1"/>
                </a:solidFill>
              </a:rPr>
              <a:t>Техническая суть решения сводится к проверке ряда инструментов и гипотез в процессе получения доступа к прошивке.  </a:t>
            </a:r>
            <a:endParaRPr lang="ru-RU" dirty="0"/>
          </a:p>
          <a:p>
            <a:r>
              <a:rPr lang="ru-RU" sz="1400" smtClean="0">
                <a:solidFill>
                  <a:schemeClr val="tx1"/>
                </a:solidFill>
              </a:rPr>
              <a:t>Первоочерёдно были проанализированы самые простые решения, включающие в себя подключение по </a:t>
            </a:r>
            <a:r>
              <a:rPr lang="en-US" sz="1400" smtClean="0">
                <a:solidFill>
                  <a:schemeClr val="tx1"/>
                </a:solidFill>
              </a:rPr>
              <a:t>USB </a:t>
            </a:r>
            <a:r>
              <a:rPr lang="ru-RU" sz="1400" smtClean="0">
                <a:solidFill>
                  <a:schemeClr val="tx1"/>
                </a:solidFill>
              </a:rPr>
              <a:t>(2 метода физических манипуляций с платой для отображения диска в интерфейсе), скачивание прошивки (2 метода , один из которых основан на применении веб-инструмента, а другой на  установке ПО), анализа прошивки и нахождение в ней кода от платы. </a:t>
            </a:r>
          </a:p>
          <a:p>
            <a:r>
              <a:rPr lang="ru-RU" sz="1400" smtClean="0">
                <a:solidFill>
                  <a:schemeClr val="tx1"/>
                </a:solidFill>
              </a:rPr>
              <a:t>Дополнительно были изучены  возможности </a:t>
            </a:r>
            <a:r>
              <a:rPr lang="en-US" sz="1400" smtClean="0">
                <a:solidFill>
                  <a:schemeClr val="tx1"/>
                </a:solidFill>
              </a:rPr>
              <a:t>Arduino Uno </a:t>
            </a:r>
            <a:r>
              <a:rPr lang="ru-RU" sz="1400" smtClean="0">
                <a:solidFill>
                  <a:schemeClr val="tx1"/>
                </a:solidFill>
              </a:rPr>
              <a:t> </a:t>
            </a:r>
            <a:r>
              <a:rPr lang="ru-RU" sz="1400" smtClean="0">
                <a:solidFill>
                  <a:schemeClr val="tx1"/>
                </a:solidFill>
              </a:rPr>
              <a:t>в двух различных подходах:</a:t>
            </a:r>
            <a:r>
              <a:rPr lang="ru-RU" sz="1400">
                <a:solidFill>
                  <a:schemeClr val="tx1"/>
                </a:solidFill>
              </a:rPr>
              <a:t> </a:t>
            </a:r>
            <a:r>
              <a:rPr lang="ru-RU" sz="1400" smtClean="0">
                <a:solidFill>
                  <a:schemeClr val="tx1"/>
                </a:solidFill>
              </a:rPr>
              <a:t>первый заключается в анализе формы и задержек сигналов  в зависимости от правильности выбранной цифры, а второй представляет собой автоматизированный  перебор всех доступных кодов за счёт имитации работы энкодера. </a:t>
            </a:r>
          </a:p>
        </p:txBody>
      </p:sp>
      <p:sp>
        <p:nvSpPr>
          <p:cNvPr id="1011650228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600" smtClean="0">
                <a:solidFill>
                  <a:schemeClr val="tx1"/>
                </a:solidFill>
              </a:rPr>
              <a:t>Маркетинговая суть наиболее успешного из приведённых в отчёте решений заключается в его простоте и том, что оно </a:t>
            </a:r>
            <a:r>
              <a:rPr lang="ru-RU" sz="1600" dirty="0">
                <a:solidFill>
                  <a:schemeClr val="tx1"/>
                </a:solidFill>
              </a:rPr>
              <a:t>может быть реализовано при наличии </a:t>
            </a:r>
            <a:r>
              <a:rPr lang="en-US" sz="1600" dirty="0">
                <a:solidFill>
                  <a:schemeClr val="tx1"/>
                </a:solidFill>
              </a:rPr>
              <a:t>USB-C </a:t>
            </a:r>
            <a:r>
              <a:rPr lang="ru-RU" sz="1600" dirty="0">
                <a:solidFill>
                  <a:schemeClr val="tx1"/>
                </a:solidFill>
              </a:rPr>
              <a:t>кабеля и доступа к сети Интернет. </a:t>
            </a:r>
          </a:p>
          <a:p>
            <a:r>
              <a:rPr lang="ru-RU" sz="1600" dirty="0">
                <a:solidFill>
                  <a:schemeClr val="tx1"/>
                </a:solidFill>
              </a:rPr>
              <a:t>В </a:t>
            </a:r>
            <a:r>
              <a:rPr lang="ru-RU" sz="1600">
                <a:solidFill>
                  <a:schemeClr val="tx1"/>
                </a:solidFill>
              </a:rPr>
              <a:t>дальнейшем </a:t>
            </a:r>
            <a:r>
              <a:rPr lang="ru-RU" sz="1600" smtClean="0">
                <a:solidFill>
                  <a:schemeClr val="tx1"/>
                </a:solidFill>
              </a:rPr>
              <a:t> </a:t>
            </a:r>
            <a:r>
              <a:rPr lang="ru-RU" sz="1600" smtClean="0">
                <a:solidFill>
                  <a:schemeClr val="tx1"/>
                </a:solidFill>
              </a:rPr>
              <a:t>подход</a:t>
            </a:r>
            <a:r>
              <a:rPr lang="ru-RU" sz="1600" smtClean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можно автоматизировать при помощи создания </a:t>
            </a:r>
            <a:r>
              <a:rPr lang="ru-RU" sz="1600" dirty="0" err="1">
                <a:solidFill>
                  <a:schemeClr val="tx1"/>
                </a:solidFill>
              </a:rPr>
              <a:t>ии</a:t>
            </a:r>
            <a:r>
              <a:rPr lang="ru-RU" sz="1600" dirty="0">
                <a:solidFill>
                  <a:schemeClr val="tx1"/>
                </a:solidFill>
              </a:rPr>
              <a:t>-агента, который будет специально обучен распознавать и анализировать прошивку, работая в </a:t>
            </a:r>
            <a:r>
              <a:rPr lang="ru-RU" sz="1600">
                <a:solidFill>
                  <a:schemeClr val="tx1"/>
                </a:solidFill>
              </a:rPr>
              <a:t>виртуальном </a:t>
            </a:r>
            <a:r>
              <a:rPr lang="ru-RU" sz="1600" smtClean="0">
                <a:solidFill>
                  <a:schemeClr val="tx1"/>
                </a:solidFill>
              </a:rPr>
              <a:t>окружении</a:t>
            </a:r>
            <a:r>
              <a:rPr lang="ru-RU" sz="1600" smtClean="0">
                <a:solidFill>
                  <a:schemeClr val="tx1"/>
                </a:solidFill>
              </a:rPr>
              <a:t> </a:t>
            </a:r>
            <a:r>
              <a:rPr lang="ru-RU" sz="1600" smtClean="0">
                <a:solidFill>
                  <a:schemeClr val="tx1"/>
                </a:solidFill>
              </a:rPr>
              <a:t>и управляя внешними инструментами.</a:t>
            </a:r>
            <a:endParaRPr lang="ru-RU" sz="1600" smtClean="0">
              <a:solidFill>
                <a:schemeClr val="tx1"/>
              </a:solidFill>
            </a:endParaRPr>
          </a:p>
          <a:p>
            <a:r>
              <a:rPr lang="ru-RU" sz="1600" smtClean="0">
                <a:solidFill>
                  <a:schemeClr val="tx1"/>
                </a:solidFill>
              </a:rPr>
              <a:t>Также, все рассмотренные решения на базе </a:t>
            </a:r>
            <a:r>
              <a:rPr lang="en-US" sz="1600" smtClean="0">
                <a:solidFill>
                  <a:schemeClr val="tx1"/>
                </a:solidFill>
              </a:rPr>
              <a:t>Arduino </a:t>
            </a:r>
            <a:r>
              <a:rPr lang="ru-RU" sz="1600" smtClean="0">
                <a:solidFill>
                  <a:schemeClr val="tx1"/>
                </a:solidFill>
              </a:rPr>
              <a:t>имеют преимущество за счёт своей доступности, т.к. они сильно вигрывают в цене по сравнению со стандартными программаторами и аксессуарам к ним. 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9119405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256540630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  <a:endParaRPr dirty="0"/>
          </a:p>
        </p:txBody>
      </p:sp>
      <p:sp>
        <p:nvSpPr>
          <p:cNvPr id="147978027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</TotalTime>
  <Words>596</Words>
  <Application>Microsoft Office PowerPoint</Application>
  <PresentationFormat>Произвольный</PresentationFormat>
  <Paragraphs>64</Paragraphs>
  <Slides>5</Slides>
  <Notes>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Для Академия инноваторов 16_9</vt:lpstr>
      <vt:lpstr>Команда «СИГНАЛ»</vt:lpstr>
      <vt:lpstr>КОМАНДА «СИГНАЛ»</vt:lpstr>
      <vt:lpstr>Команда «Сигнал»</vt:lpstr>
      <vt:lpstr>Команда «Сигнал»</vt:lpstr>
      <vt:lpstr>КОРОТКО О РЕШЕНИИ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Vansadar</cp:lastModifiedBy>
  <cp:revision>108</cp:revision>
  <dcterms:created xsi:type="dcterms:W3CDTF">2023-05-15T07:36:23Z</dcterms:created>
  <dcterms:modified xsi:type="dcterms:W3CDTF">2026-09-29T18:59:42Z</dcterms:modified>
</cp:coreProperties>
</file>